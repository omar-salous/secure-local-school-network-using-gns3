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888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0515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LOCAL SCHOOL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 SYSTEM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737360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2D5E8"/>
                </a:solidFill>
              </a:rPr>
              <a:t>Project Report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2834640"/>
            <a:ext cx="4389120" cy="1965960"/>
          </a:xfrm>
          <a:prstGeom prst="roundRect">
            <a:avLst>
              <a:gd name="adj" fmla="val 3721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987552" y="294436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Project Team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" y="324612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Supervisor: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Jehad Hamamreh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Students: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Omar Salous (12427830)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Ferial Kalboneh (12428346)</a:t>
            </a:r>
            <a:endParaRPr lang="en-US" sz="1400" dirty="0"/>
          </a:p>
        </p:txBody>
      </p:sp>
      <p:pic>
        <p:nvPicPr>
          <p:cNvPr id="8" name="Image 1" descr="/mnt/data/ppt_unzip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49577"/>
            <a:ext cx="4800600" cy="41302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5715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FF4"/>
                </a:solidFill>
              </a:rPr>
              <a:t>GNS3 topology with segmented departments and protected internal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About the Project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Purpose and overall design</a:t>
            </a:r>
            <a:endParaRPr lang="en-US" sz="1050" b="1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5486400" cy="5074920"/>
          </a:xfrm>
          <a:prstGeom prst="roundRect">
            <a:avLst>
              <a:gd name="adj" fmla="val 1441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667512" y="1207008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Overview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4937760" cy="420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 secure local school network using GNS3.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Administration, Teachers, Lab, and Students through one router.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controlled communication between departments while protecting sensitive resources.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internal services through a dedicated server: DHCP, Web Server, and File Sharing.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0" y="1097280"/>
            <a:ext cx="5257800" cy="5074920"/>
          </a:xfrm>
          <a:prstGeom prst="roundRect">
            <a:avLst>
              <a:gd name="adj" fmla="val 1441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6565392" y="1207008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Key Outcomes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1554480"/>
            <a:ext cx="475488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subnets with clear gateways.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 policy blocks Students from the Admin network.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 enables Internet access through the external interface.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confirms service availability and enforced security rules.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2200" b="1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What the implementation aimed to achieve</a:t>
            </a:r>
            <a:endParaRPr lang="en-US" sz="1050" b="1" dirty="0"/>
          </a:p>
        </p:txBody>
      </p:sp>
      <p:sp>
        <p:nvSpPr>
          <p:cNvPr id="5" name="Shape 2"/>
          <p:cNvSpPr/>
          <p:nvPr/>
        </p:nvSpPr>
        <p:spPr>
          <a:xfrm>
            <a:off x="685800" y="123444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850392" y="1344168"/>
            <a:ext cx="10643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Project Objectives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05840" y="187452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1143000" y="2148840"/>
            <a:ext cx="242316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different school departments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networks using subnets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160520" y="187452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4297680" y="2148840"/>
            <a:ext cx="242316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network security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internal services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15200" y="187452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7452360" y="2148840"/>
            <a:ext cx="242316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routing between allowed networks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operation with practical ping tests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FF4"/>
                </a:solidFill>
              </a:rPr>
              <a:t>Internal services include DHCP, Web Server, and Samba File Sharing.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</a:t>
            </a:r>
            <a:r>
              <a:rPr lang="en-US" sz="2200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Topology</a:t>
            </a:r>
            <a:endParaRPr lang="en-US" sz="2200" b="1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Main components and departmental layout</a:t>
            </a:r>
            <a:endParaRPr lang="en-US" sz="1050" b="1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2743200" cy="5212080"/>
          </a:xfrm>
          <a:prstGeom prst="roundRect">
            <a:avLst>
              <a:gd name="adj" fmla="val 2667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667512" y="1207008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Components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3232" y="160020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Router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Switches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PCs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Server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NAT connection</a:t>
            </a:r>
            <a:endParaRPr lang="en-US" sz="1800" dirty="0"/>
          </a:p>
        </p:txBody>
      </p:sp>
      <p:pic>
        <p:nvPicPr>
          <p:cNvPr id="8" name="Image 1" descr="/mnt/data/ppt_unzip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509" y="1143000"/>
            <a:ext cx="62705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IP Addressing and Device Connections</a:t>
            </a:r>
            <a:endParaRPr lang="en-US" sz="2200" b="1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Subnet plan and key interfaces</a:t>
            </a:r>
            <a:endParaRPr lang="en-US" sz="1050" b="1" dirty="0"/>
          </a:p>
        </p:txBody>
      </p:sp>
      <p:sp>
        <p:nvSpPr>
          <p:cNvPr id="5" name="Shape 2"/>
          <p:cNvSpPr/>
          <p:nvPr/>
        </p:nvSpPr>
        <p:spPr>
          <a:xfrm>
            <a:off x="502920" y="1143000"/>
            <a:ext cx="6080760" cy="5029200"/>
          </a:xfrm>
          <a:prstGeom prst="roundRect">
            <a:avLst>
              <a:gd name="adj" fmla="val 1455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667512" y="1252728"/>
            <a:ext cx="5751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Connection Map</a:t>
            </a:r>
            <a:endParaRPr lang="en-US" sz="1200" dirty="0"/>
          </a:p>
        </p:txBody>
      </p:sp>
      <p:pic>
        <p:nvPicPr>
          <p:cNvPr id="7" name="Image 1" descr="/mnt/data/ppt_unzip/ppt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95232"/>
            <a:ext cx="5532120" cy="30332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12280" y="1143000"/>
            <a:ext cx="4892040" cy="5029200"/>
          </a:xfrm>
          <a:prstGeom prst="roundRect">
            <a:avLst>
              <a:gd name="adj" fmla="val 1495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5"/>
          <p:cNvSpPr/>
          <p:nvPr/>
        </p:nvSpPr>
        <p:spPr>
          <a:xfrm>
            <a:off x="6976872" y="125272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Addressing Summary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059168" y="1691640"/>
            <a:ext cx="4343400" cy="411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→ 192.168.10.0/24 | gateway 192.168.10.1
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Teachers → 192.168.20.0/24 | gateway 192.168.20.1
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→ 192.168.30.0/24 | gateway 192.168.30.1
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→ 192.168.40.0/24 | gateway 192.168.40.1
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→ 192.168.10.100 in the Admin subnet
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eth4 obtains Internet access from NAT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 Configuration</a:t>
            </a:r>
            <a:endParaRPr lang="en-US" sz="2200" b="1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Static addressing for departmental PCs</a:t>
            </a:r>
            <a:endParaRPr lang="en-US" sz="1050" b="1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896112" y="1572768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Admin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02996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192.168.10.10 255.255.255.0 192.168.10.1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6428232" y="1572768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Teachers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46520" y="202996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192.168.20.10 255.255.255.0 192.168.20.1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84048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896112" y="3950208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Lab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40740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192.168.30.10 255.255.255.0 192.168.30.1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63640" y="384048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2"/>
          <p:cNvSpPr/>
          <p:nvPr/>
        </p:nvSpPr>
        <p:spPr>
          <a:xfrm>
            <a:off x="6428232" y="3950208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Students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46520" y="440740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192.168.40.10 255.255.255.0 192.168.40.1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" y="608076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FF4"/>
                </a:solidFill>
              </a:rPr>
              <a:t>VPCS devices can save the configuration using the save command.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 and Security Design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How the router controls communication</a:t>
            </a:r>
            <a:endParaRPr lang="en-US" sz="1050" b="1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3657600" cy="5120640"/>
          </a:xfrm>
          <a:prstGeom prst="roundRect">
            <a:avLst>
              <a:gd name="adj" fmla="val 2000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13232" y="125272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Routing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9808" y="1600200"/>
            <a:ext cx="3246120" cy="374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router connects all four internal networks.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subnet uses its local router interface as the default gateway.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forwarding is enabled to allow inter-network routing.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 on eth4 provides outbound Internet access.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89120" y="1143000"/>
            <a:ext cx="3657600" cy="5120640"/>
          </a:xfrm>
          <a:prstGeom prst="roundRect">
            <a:avLst>
              <a:gd name="adj" fmla="val 2000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553712" y="125272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Security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90288" y="1600200"/>
            <a:ext cx="324612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are blocked from reaching the Admin network.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Teachers and Lab remain reachable where allowed.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rule is implemented using iptables FORWARD filtering.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29600" y="1143000"/>
            <a:ext cx="3429000" cy="5120640"/>
          </a:xfrm>
          <a:prstGeom prst="roundRect">
            <a:avLst>
              <a:gd name="adj" fmla="val 2133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8394192" y="1252728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Router Services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30768" y="1600200"/>
            <a:ext cx="3017520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eth0 → Admin / Server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eth1 → Teachers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eth2 → Lab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eth3 → Students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eth4 → NAT / Internet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Server Services</a:t>
            </a:r>
            <a:endParaRPr lang="en-US" sz="2200" b="1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Aptos" pitchFamily="34" charset="0"/>
                <a:ea typeface="Aptos" pitchFamily="34" charset="-122"/>
                <a:cs typeface="Aptos" pitchFamily="34" charset="-120"/>
              </a:rPr>
              <a:t>Central services hosted in the Admin subnet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4360" y="1188720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58952" y="1298448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Server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30632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IP: 192.168.10.100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to the Admin switch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Acts as the internal service platform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43400" y="1188720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507992" y="1298448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Services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0" y="1691640"/>
            <a:ext cx="301752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Web Server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dnsmasq for DHCP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Samba for File Sharing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092440" y="1188720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8257032" y="1298448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Testing Focus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21040" y="1691640"/>
            <a:ext cx="301752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 verification between networks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page reachable locally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folder visible on the server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rule successfully enforced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Router Verification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Addressing, firewall, and NAT evidence</a:t>
            </a:r>
            <a:endParaRPr lang="en-US" sz="1050" b="1" dirty="0"/>
          </a:p>
        </p:txBody>
      </p:sp>
      <p:sp>
        <p:nvSpPr>
          <p:cNvPr id="5" name="Shape 2"/>
          <p:cNvSpPr/>
          <p:nvPr/>
        </p:nvSpPr>
        <p:spPr>
          <a:xfrm>
            <a:off x="502920" y="1051560"/>
            <a:ext cx="3703320" cy="5349240"/>
          </a:xfrm>
          <a:prstGeom prst="roundRect">
            <a:avLst>
              <a:gd name="adj" fmla="val 1975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667512" y="116128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Router Interfaces and IP Addressing</a:t>
            </a:r>
            <a:endParaRPr lang="en-US" sz="1200" dirty="0"/>
          </a:p>
        </p:txBody>
      </p:sp>
      <p:pic>
        <p:nvPicPr>
          <p:cNvPr id="7" name="Image 1" descr="/mnt/data/ppt_unzip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002412"/>
            <a:ext cx="3291840" cy="344753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15968" y="105156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5"/>
          <p:cNvSpPr/>
          <p:nvPr/>
        </p:nvSpPr>
        <p:spPr>
          <a:xfrm>
            <a:off x="4480560" y="1161288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Firewall Rules on the Router</a:t>
            </a:r>
            <a:endParaRPr lang="en-US" sz="1200" dirty="0"/>
          </a:p>
        </p:txBody>
      </p:sp>
      <p:pic>
        <p:nvPicPr>
          <p:cNvPr id="10" name="Image 2" descr="/mnt/data/ppt_unzip/ppt/media/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005129"/>
            <a:ext cx="3200400" cy="66232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315968" y="374904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7"/>
          <p:cNvSpPr/>
          <p:nvPr/>
        </p:nvSpPr>
        <p:spPr>
          <a:xfrm>
            <a:off x="4480560" y="3858768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NAT Configuration for Internet Access</a:t>
            </a:r>
            <a:endParaRPr lang="en-US" sz="1200" dirty="0"/>
          </a:p>
        </p:txBody>
      </p:sp>
      <p:pic>
        <p:nvPicPr>
          <p:cNvPr id="13" name="Image 3" descr="/mnt/data/ppt_unzip/ppt/media/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4404178"/>
            <a:ext cx="3200400" cy="138720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092440" y="1051560"/>
            <a:ext cx="3611880" cy="5349240"/>
          </a:xfrm>
          <a:prstGeom prst="roundRect">
            <a:avLst>
              <a:gd name="adj" fmla="val 2025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9"/>
          <p:cNvSpPr/>
          <p:nvPr/>
        </p:nvSpPr>
        <p:spPr>
          <a:xfrm>
            <a:off x="8257032" y="1161288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What the Screens Show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302752" y="1645920"/>
            <a:ext cx="310896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internal interfaces are configured with the correct gateways.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chain includes a DROP rule from Students to Admin.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POSTROUTING uses MASQUERADE on eth4 for Internet access.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Verification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Evidence that Web and File Sharing are running</a:t>
            </a:r>
            <a:endParaRPr lang="en-US" sz="1050" b="1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5577840" cy="2606040"/>
          </a:xfrm>
          <a:prstGeom prst="roundRect">
            <a:avLst>
              <a:gd name="adj" fmla="val 2807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13232" y="1161288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Local Web Server Test</a:t>
            </a:r>
            <a:endParaRPr lang="en-US" sz="1200" dirty="0"/>
          </a:p>
        </p:txBody>
      </p:sp>
      <p:pic>
        <p:nvPicPr>
          <p:cNvPr id="7" name="Image 1" descr="/mnt/data/ppt_unzip/ppt/media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0316"/>
            <a:ext cx="5120640" cy="15599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749040"/>
            <a:ext cx="5577840" cy="2606040"/>
          </a:xfrm>
          <a:prstGeom prst="roundRect">
            <a:avLst>
              <a:gd name="adj" fmla="val 2807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5"/>
          <p:cNvSpPr/>
          <p:nvPr/>
        </p:nvSpPr>
        <p:spPr>
          <a:xfrm>
            <a:off x="713232" y="3858768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Shared Folder Verification</a:t>
            </a:r>
            <a:endParaRPr lang="en-US" sz="1200" dirty="0"/>
          </a:p>
        </p:txBody>
      </p:sp>
      <p:pic>
        <p:nvPicPr>
          <p:cNvPr id="10" name="Image 2" descr="/mnt/data/ppt_unzip/ppt/media/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562" y="4251960"/>
            <a:ext cx="4151996" cy="17373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355080" y="1051560"/>
            <a:ext cx="5257800" cy="5303520"/>
          </a:xfrm>
          <a:prstGeom prst="roundRect">
            <a:avLst>
              <a:gd name="adj" fmla="val 1391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7"/>
          <p:cNvSpPr/>
          <p:nvPr/>
        </p:nvSpPr>
        <p:spPr>
          <a:xfrm>
            <a:off x="6519672" y="1161288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583680" y="1645920"/>
            <a:ext cx="475488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Apache test confirms the internal school page is served correctly.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shared folder contains the expected readme file.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 they prove the server is actively delivering internal services.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Verification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Connectivity success and policy enforcement</a:t>
            </a:r>
            <a:endParaRPr lang="en-US" sz="1050" b="1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667512" y="1207008"/>
            <a:ext cx="5294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Admin to Server Connectivity Test</a:t>
            </a:r>
            <a:endParaRPr lang="en-US" sz="1200" dirty="0"/>
          </a:p>
        </p:txBody>
      </p:sp>
      <p:pic>
        <p:nvPicPr>
          <p:cNvPr id="7" name="Image 1" descr="/mnt/data/ppt_unzip/ppt/media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502" y="1572768"/>
            <a:ext cx="3858397" cy="16276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365760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5"/>
          <p:cNvSpPr/>
          <p:nvPr/>
        </p:nvSpPr>
        <p:spPr>
          <a:xfrm>
            <a:off x="667512" y="3767328"/>
            <a:ext cx="5294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Students Blocked from Accessing Admin Network</a:t>
            </a:r>
            <a:endParaRPr lang="en-US" sz="1200" dirty="0"/>
          </a:p>
        </p:txBody>
      </p:sp>
      <p:pic>
        <p:nvPicPr>
          <p:cNvPr id="10" name="Image 2" descr="/mnt/data/ppt_unzip/ppt/media/image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1211" y="4023360"/>
            <a:ext cx="3661258" cy="1600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355080" y="10972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7"/>
          <p:cNvSpPr/>
          <p:nvPr/>
        </p:nvSpPr>
        <p:spPr>
          <a:xfrm>
            <a:off x="6519672" y="1207008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Students Can Access Allowed Networks</a:t>
            </a:r>
            <a:endParaRPr lang="en-US" sz="1200" dirty="0"/>
          </a:p>
        </p:txBody>
      </p:sp>
      <p:pic>
        <p:nvPicPr>
          <p:cNvPr id="13" name="Image 3" descr="/mnt/data/ppt_unzip/ppt/media/image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1704710"/>
            <a:ext cx="4663440" cy="12083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55080" y="36576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9"/>
          <p:cNvSpPr/>
          <p:nvPr/>
        </p:nvSpPr>
        <p:spPr>
          <a:xfrm>
            <a:off x="6519672" y="3767328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Verification Summary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565392" y="4041648"/>
            <a:ext cx="475488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can reach the internal server successfully.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Students-to-Admin ping fails as intended.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can still reach a permitted subnet, confirming selective filtering.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Project outcome</a:t>
            </a:r>
            <a:endParaRPr lang="en-US" sz="1050" b="1" dirty="0"/>
          </a:p>
        </p:txBody>
      </p:sp>
      <p:sp>
        <p:nvSpPr>
          <p:cNvPr id="5" name="Shape 2"/>
          <p:cNvSpPr/>
          <p:nvPr/>
        </p:nvSpPr>
        <p:spPr>
          <a:xfrm>
            <a:off x="1097280" y="1417320"/>
            <a:ext cx="9966960" cy="4297680"/>
          </a:xfrm>
          <a:prstGeom prst="roundRect">
            <a:avLst>
              <a:gd name="adj" fmla="val 1702"/>
            </a:avLst>
          </a:prstGeom>
          <a:solidFill>
            <a:srgbClr val="123245">
              <a:alpha val="85000"/>
            </a:srgbClr>
          </a:solidFill>
          <a:ln w="12700">
            <a:solidFill>
              <a:srgbClr val="72D5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1261872" y="1527048"/>
            <a:ext cx="9637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D5E8"/>
                </a:solidFill>
              </a:rPr>
              <a:t>Final Remarks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08760" y="1965960"/>
            <a:ext cx="91440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 and organized school network was designed and implemented in GNS3.
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Departments were separated into subnets and connected through one central router.
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services were successfully deployed through the server.
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rules protected the Admin network while keeping allowed communication available.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2D5E8"/>
                </a:solidFill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703</Words>
  <Application>Microsoft Office PowerPoint</Application>
  <PresentationFormat>Widescreen</PresentationFormat>
  <Paragraphs>140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Local School Network System</dc:title>
  <dc:subject>Secure Local School Network</dc:subject>
  <dc:creator>OpenAI</dc:creator>
  <cp:lastModifiedBy>Omar salous</cp:lastModifiedBy>
  <cp:revision>3</cp:revision>
  <dcterms:created xsi:type="dcterms:W3CDTF">2026-04-17T19:23:03Z</dcterms:created>
  <dcterms:modified xsi:type="dcterms:W3CDTF">2026-04-17T19:51:44Z</dcterms:modified>
</cp:coreProperties>
</file>