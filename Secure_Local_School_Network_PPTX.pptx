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05156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SECURE LOCAL SCHOOL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 SYSTEM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1737360" y="2240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2D5E8"/>
                </a:solidFill>
              </a:rPr>
              <a:t>Project Report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4389120" cy="1965960"/>
          </a:xfrm>
          <a:prstGeom prst="roundRect">
            <a:avLst>
              <a:gd name="adj" fmla="val 372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87552" y="2944368"/>
            <a:ext cx="405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Project Team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43000" y="324612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Supervisor: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Jehad Hamamreh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Students: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Omar Salous (12427830)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Ferial Kalboneh (12428346)</a:t>
            </a:r>
            <a:endParaRPr lang="en-US" sz="1400" dirty="0"/>
          </a:p>
        </p:txBody>
      </p:sp>
      <p:pic>
        <p:nvPicPr>
          <p:cNvPr id="8" name="Image 1" descr="/mnt/data/ppt_unzip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49577"/>
            <a:ext cx="4800600" cy="413024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92240" y="5715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EFF4"/>
                </a:solidFill>
              </a:rPr>
              <a:t>GNS3 topology with segmented departments and protected internal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About the Project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 and overall design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1097280"/>
            <a:ext cx="5486400" cy="5074920"/>
          </a:xfrm>
          <a:prstGeom prst="roundRect">
            <a:avLst>
              <a:gd name="adj" fmla="val 144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" y="1207008"/>
            <a:ext cx="5157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Overview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4937760" cy="420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a secure local school network using GNS3.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Administration, Teachers, Lab, and Students through one router.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 controlled communication between departments while protecting sensitive resources.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internal services through a dedicated server: DHCP, Web Server, and File Sharing.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400800" y="1097280"/>
            <a:ext cx="5257800" cy="5074920"/>
          </a:xfrm>
          <a:prstGeom prst="roundRect">
            <a:avLst>
              <a:gd name="adj" fmla="val 144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65392" y="1207008"/>
            <a:ext cx="4928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Key Outcomes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29400" y="1554480"/>
            <a:ext cx="4754880" cy="3931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subnets with clear gateways.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Firewall policy blocks Students from the Admin network.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 enables Internet access through the external interface.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 confirms service availability and enforced security rules.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Objectives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implementation aimed to achieve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85800" y="1234440"/>
            <a:ext cx="10972800" cy="4389120"/>
          </a:xfrm>
          <a:prstGeom prst="roundRect">
            <a:avLst>
              <a:gd name="adj" fmla="val 166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0392" y="1344168"/>
            <a:ext cx="10643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Project Objectives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05840" y="1874520"/>
            <a:ext cx="2697480" cy="2880360"/>
          </a:xfrm>
          <a:prstGeom prst="roundRect">
            <a:avLst>
              <a:gd name="adj" fmla="val 2712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43000" y="2148840"/>
            <a:ext cx="242316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different school departments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networks using subnets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160520" y="1874520"/>
            <a:ext cx="2697480" cy="2880360"/>
          </a:xfrm>
          <a:prstGeom prst="roundRect">
            <a:avLst>
              <a:gd name="adj" fmla="val 2712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97680" y="2148840"/>
            <a:ext cx="242316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network security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internal services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315200" y="1874520"/>
            <a:ext cx="2697480" cy="2880360"/>
          </a:xfrm>
          <a:prstGeom prst="roundRect">
            <a:avLst>
              <a:gd name="adj" fmla="val 2712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52360" y="2148840"/>
            <a:ext cx="242316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Enable routing between allowed networks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operation with practical ping tests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14400" y="580644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EFF4"/>
                </a:solidFill>
              </a:rPr>
              <a:t>Internal services include DHCP, Web Server, and Samba File Sharing.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 Topology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components and departmental layout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1097280"/>
            <a:ext cx="2743200" cy="5212080"/>
          </a:xfrm>
          <a:prstGeom prst="roundRect">
            <a:avLst>
              <a:gd name="adj" fmla="val 266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" y="1207008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Components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13232" y="1600200"/>
            <a:ext cx="2331720" cy="3200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Router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Switches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PCs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Server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NAT connection</a:t>
            </a:r>
            <a:endParaRPr lang="en-US" sz="1800" dirty="0"/>
          </a:p>
        </p:txBody>
      </p:sp>
      <p:pic>
        <p:nvPicPr>
          <p:cNvPr id="8" name="Image 1" descr="/mnt/data/ppt_unzip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509" y="1143000"/>
            <a:ext cx="62705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IP Addressing and Device Connections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Subnet plan and key interfaces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1143000"/>
            <a:ext cx="6080760" cy="5029200"/>
          </a:xfrm>
          <a:prstGeom prst="roundRect">
            <a:avLst>
              <a:gd name="adj" fmla="val 1455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" y="1252728"/>
            <a:ext cx="5751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Connection Map</a:t>
            </a:r>
            <a:endParaRPr lang="en-US" sz="1200" dirty="0"/>
          </a:p>
        </p:txBody>
      </p:sp>
      <p:pic>
        <p:nvPicPr>
          <p:cNvPr id="7" name="Image 1" descr="/mnt/data/ppt_unzip/ppt/media/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95232"/>
            <a:ext cx="5532120" cy="303329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812280" y="1143000"/>
            <a:ext cx="4892040" cy="5029200"/>
          </a:xfrm>
          <a:prstGeom prst="roundRect">
            <a:avLst>
              <a:gd name="adj" fmla="val 1495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976872" y="1252728"/>
            <a:ext cx="4562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Addressing Summary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059168" y="1691640"/>
            <a:ext cx="4343400" cy="411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→ 192.168.10.0/24 | gateway 192.168.10.1</a:t>
            </a:r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Teachers → 192.168.20.0/24 | gateway 192.168.20.1</a:t>
            </a:r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→ 192.168.30.0/24 | gateway 192.168.30.1</a:t>
            </a:r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→ 192.168.40.0/24 | gateway 192.168.40.1</a:t>
            </a:r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→ 192.168.10.100 in the Admin subnet</a:t>
            </a:r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Router eth4 obtains Internet access from NAT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 Configuration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addressing for departmental PCs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6112" y="157276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Admin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202996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E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192.168.10.10 255.255.255.0 192.168.10.1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28232" y="157276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Teachers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46520" y="202996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E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192.168.20.10 255.255.255.0 192.168.20.1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840480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6112" y="395020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Lab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44074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E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192.168.30.10 255.255.255.0 192.168.30.1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3840480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28232" y="3950208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Students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44074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E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192.168.40.10 255.255.255.0 192.168.40.1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2960" y="6080760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EFF4"/>
                </a:solidFill>
              </a:rPr>
              <a:t>VPCS devices can save the configuration using the save command.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Routing and Security Design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router controls communication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657600" cy="5120640"/>
          </a:xfrm>
          <a:prstGeom prst="roundRect">
            <a:avLst>
              <a:gd name="adj" fmla="val 2000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" y="1252728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Routing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49808" y="1600200"/>
            <a:ext cx="3246120" cy="3749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router connects all four internal networks.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subnet uses its local router interface as the default gateway.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 forwarding is enabled to allow inter-network routing.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 on eth4 provides outbound Internet access.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89120" y="1143000"/>
            <a:ext cx="3657600" cy="5120640"/>
          </a:xfrm>
          <a:prstGeom prst="roundRect">
            <a:avLst>
              <a:gd name="adj" fmla="val 2000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53712" y="1252728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Security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90288" y="1600200"/>
            <a:ext cx="3246120" cy="3383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are blocked from reaching the Admin network.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Teachers and Lab remain reachable where allowed.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rule is implemented using iptables FORWARD filtering.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229600" y="1143000"/>
            <a:ext cx="3429000" cy="5120640"/>
          </a:xfrm>
          <a:prstGeom prst="roundRect">
            <a:avLst>
              <a:gd name="adj" fmla="val 2133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94192" y="1252728"/>
            <a:ext cx="3099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Router Services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430768" y="1600200"/>
            <a:ext cx="3017520" cy="3657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eth0 → Admin / Server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eth1 → Teachers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eth2 → Lab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eth3 → Students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eth4 → NAT / Internet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Server Services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 services hosted in the Admin subnet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94360" y="1188720"/>
            <a:ext cx="3566160" cy="4983480"/>
          </a:xfrm>
          <a:prstGeom prst="roundRect">
            <a:avLst>
              <a:gd name="adj" fmla="val 205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29844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Server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306324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IP: 192.168.10.100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to the Admin switch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Acts as the internal service platform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1188720"/>
            <a:ext cx="3566160" cy="4983480"/>
          </a:xfrm>
          <a:prstGeom prst="roundRect">
            <a:avLst>
              <a:gd name="adj" fmla="val 205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07992" y="129844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Services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1691640"/>
            <a:ext cx="3017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Apache Web Server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dnsmasq for DHCP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Samba for File Sharing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092440" y="1188720"/>
            <a:ext cx="3566160" cy="4983480"/>
          </a:xfrm>
          <a:prstGeom prst="roundRect">
            <a:avLst>
              <a:gd name="adj" fmla="val 205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57032" y="129844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Testing Focus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321040" y="1691640"/>
            <a:ext cx="301752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Ping verification between networks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page reachable locally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folder visible on the server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rule successfully enforced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Router Verification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Addressing, firewall, and NAT evidence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1051560"/>
            <a:ext cx="3703320" cy="5349240"/>
          </a:xfrm>
          <a:prstGeom prst="roundRect">
            <a:avLst>
              <a:gd name="adj" fmla="val 1975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" y="1161288"/>
            <a:ext cx="3374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Router Interfaces and IP Addressing</a:t>
            </a:r>
            <a:endParaRPr lang="en-US" sz="1200" dirty="0"/>
          </a:p>
        </p:txBody>
      </p:sp>
      <p:pic>
        <p:nvPicPr>
          <p:cNvPr id="7" name="Image 1" descr="/mnt/data/ppt_unzip/ppt/media/imag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02412"/>
            <a:ext cx="3291840" cy="34475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315968" y="1051560"/>
            <a:ext cx="3611880" cy="2514600"/>
          </a:xfrm>
          <a:prstGeom prst="roundRect">
            <a:avLst>
              <a:gd name="adj" fmla="val 2909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480560" y="1161288"/>
            <a:ext cx="3282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Firewall Rules on the Router</a:t>
            </a:r>
            <a:endParaRPr lang="en-US" sz="1200" dirty="0"/>
          </a:p>
        </p:txBody>
      </p:sp>
      <p:pic>
        <p:nvPicPr>
          <p:cNvPr id="10" name="Image 2" descr="/mnt/data/ppt_unzip/ppt/media/image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005129"/>
            <a:ext cx="3200400" cy="66232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15968" y="37490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4480560" y="3858768"/>
            <a:ext cx="3282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NAT Configuration for Internet Access</a:t>
            </a:r>
            <a:endParaRPr lang="en-US" sz="1200" dirty="0"/>
          </a:p>
        </p:txBody>
      </p:sp>
      <p:pic>
        <p:nvPicPr>
          <p:cNvPr id="13" name="Image 3" descr="/mnt/data/ppt_unzip/ppt/media/image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404178"/>
            <a:ext cx="3200400" cy="1387204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8092440" y="1051560"/>
            <a:ext cx="3611880" cy="5349240"/>
          </a:xfrm>
          <a:prstGeom prst="roundRect">
            <a:avLst>
              <a:gd name="adj" fmla="val 2025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8257032" y="1161288"/>
            <a:ext cx="3282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What the Screens Show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302752" y="1645920"/>
            <a:ext cx="3108960" cy="3474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internal interfaces are configured with the correct gateways.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 chain includes a DROP rule from Students to Admin.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POSTROUTING uses MASQUERADE on eth4 for Internet access.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Service Verification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that Web and File Sharing are running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48640" y="105156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" y="1161288"/>
            <a:ext cx="5248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Local Web Server Test</a:t>
            </a:r>
            <a:endParaRPr lang="en-US" sz="1200" dirty="0"/>
          </a:p>
        </p:txBody>
      </p:sp>
      <p:pic>
        <p:nvPicPr>
          <p:cNvPr id="7" name="Image 1" descr="/mnt/data/ppt_unzip/ppt/media/imag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20316"/>
            <a:ext cx="5120640" cy="155996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374904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13232" y="3858768"/>
            <a:ext cx="5248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Shared Folder Verification</a:t>
            </a:r>
            <a:endParaRPr lang="en-US" sz="1200" dirty="0"/>
          </a:p>
        </p:txBody>
      </p:sp>
      <p:pic>
        <p:nvPicPr>
          <p:cNvPr id="10" name="Image 2" descr="/mnt/data/ppt_unzip/ppt/media/image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562" y="4251960"/>
            <a:ext cx="4151996" cy="17373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355080" y="1051560"/>
            <a:ext cx="5257800" cy="5303520"/>
          </a:xfrm>
          <a:prstGeom prst="roundRect">
            <a:avLst>
              <a:gd name="adj" fmla="val 1391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19672" y="1161288"/>
            <a:ext cx="4928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Interpretation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583680" y="1645920"/>
            <a:ext cx="4754880" cy="3291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Apache test confirms the internal school page is served correctly.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shared folder contains the expected readme file.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Together they prove the server is actively delivering internal services.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Testing and Verification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Connectivity success and policy enforcement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109728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" y="1207008"/>
            <a:ext cx="5294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Admin to Server Connectivity Test</a:t>
            </a:r>
            <a:endParaRPr lang="en-US" sz="1200" dirty="0"/>
          </a:p>
        </p:txBody>
      </p:sp>
      <p:pic>
        <p:nvPicPr>
          <p:cNvPr id="7" name="Image 1" descr="/mnt/data/ppt_unzip/ppt/media/image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02" y="1572768"/>
            <a:ext cx="3858397" cy="16276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365760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67512" y="3767328"/>
            <a:ext cx="5294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Students Blocked from Accessing Admin Network</a:t>
            </a:r>
            <a:endParaRPr lang="en-US" sz="1200" dirty="0"/>
          </a:p>
        </p:txBody>
      </p:sp>
      <p:pic>
        <p:nvPicPr>
          <p:cNvPr id="10" name="Image 2" descr="/mnt/data/ppt_unzip/ppt/media/image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211" y="4023360"/>
            <a:ext cx="3661258" cy="1600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355080" y="109728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19672" y="1207008"/>
            <a:ext cx="5020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Students Can Access Allowed Networks</a:t>
            </a:r>
            <a:endParaRPr lang="en-US" sz="1200" dirty="0"/>
          </a:p>
        </p:txBody>
      </p:sp>
      <p:pic>
        <p:nvPicPr>
          <p:cNvPr id="13" name="Image 3" descr="/mnt/data/ppt_unzip/ppt/media/image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704710"/>
            <a:ext cx="4663440" cy="12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55080" y="365760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6519672" y="3767328"/>
            <a:ext cx="5020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Verification Summary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6565392" y="4041648"/>
            <a:ext cx="475488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can reach the internal server successfully.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Students-to-Admin ping fails as intended.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can still reach a permitted subnet, confirming selective filtering.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_unzip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7680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E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outcome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1097280" y="1417320"/>
            <a:ext cx="9966960" cy="4297680"/>
          </a:xfrm>
          <a:prstGeom prst="roundRect">
            <a:avLst>
              <a:gd name="adj" fmla="val 1702"/>
            </a:avLst>
          </a:prstGeom>
          <a:solidFill>
            <a:srgbClr val="123245">
              <a:alpha val="85000"/>
            </a:srgbClr>
          </a:solidFill>
          <a:ln w="12700">
            <a:solidFill>
              <a:srgbClr val="72D5E8">
                <a:alpha val="3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61872" y="1527048"/>
            <a:ext cx="9637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D5E8"/>
                </a:solidFill>
              </a:rPr>
              <a:t>Final Remarks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508760" y="1965960"/>
            <a:ext cx="914400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secure and organized school network was designed and implemented in GNS3.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Departments were separated into subnets and connected through one central router.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services were successfully deployed through the server.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rules protected the Admin network while keeping allowed communication available.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2D5E8"/>
                </a:solidFill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Local School Network System</dc:title>
  <dc:subject>Secure Local School Network</dc:subject>
  <dc:creator>OpenAI</dc:creator>
  <cp:lastModifiedBy>OpenAI</cp:lastModifiedBy>
  <cp:revision>1</cp:revision>
  <dcterms:created xsi:type="dcterms:W3CDTF">2026-04-17T19:23:03Z</dcterms:created>
  <dcterms:modified xsi:type="dcterms:W3CDTF">2026-04-17T19:23:03Z</dcterms:modified>
</cp:coreProperties>
</file>