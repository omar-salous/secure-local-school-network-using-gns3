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9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448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D4B5D-063A-AA1B-68E1-2243C62D3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9FEB0-CCCB-B608-8DB4-87B3688D6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04F8D7-26F6-D518-0639-76895AC99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5892C-BE37-BE38-DF3A-E67600D640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984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894FD-7643-DDE1-4704-46ACDF599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705C00-3B71-A884-8ADC-CCA999244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68832-5B47-55AB-0523-9A1F7D4F1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8F513-0146-C7DA-C3AC-0F813B1DF0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677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9436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Local School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292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3017520"/>
            <a:ext cx="3200400" cy="0"/>
          </a:xfrm>
          <a:prstGeom prst="line">
            <a:avLst/>
          </a:prstGeom>
          <a:noFill/>
          <a:ln w="12700">
            <a:solidFill>
              <a:srgbClr val="4444A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Jehad Hamamreh
</a:t>
            </a: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Salous (12427830)    Ferial Kalboneh (12428346)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571500"/>
            <a:ext cx="3566160" cy="3063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in GNS3 · Segmented Departments · Protected Internal Services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216152" cy="20116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OVERVIEW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the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Purpose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secure local school network using GNS3.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Administration, Teachers, Lab, and Students through one router.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controlled communication between departments while protecting sensitive resources.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internal services via a dedicated server: DHCP, Web Server, and File Sharing.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846320" y="12984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Key Outcomes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subnets with clear gateways.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policy blocks Students from the Admin network.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enables Internet access through the external interface.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confirms service availability and enforced security rules.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298448"/>
            <a:ext cx="0" cy="32004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417320" cy="20116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OBJECTIVES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74320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12648" y="14356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2648" y="167335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Departmental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Connectivity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2648" y="219456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all school departments through a single central router.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55848" y="1325880"/>
            <a:ext cx="274320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3465576" y="14356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65576" y="167335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65576" y="219456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each department into distinct subnets.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08776" y="1325880"/>
            <a:ext cx="274320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318504" y="14356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18504" y="167335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Enforcement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18504" y="219456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unauthorized access using iptables firewall rules.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926080"/>
            <a:ext cx="274320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12648" y="30358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" y="327355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2648" y="379476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DHCP, Web Server, and Samba File Sharing.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55848" y="2926080"/>
            <a:ext cx="274320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3465576" y="30358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65576" y="327355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Inter-Network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65576" y="379476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routing between permitted networks via IP forwarding.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08776" y="2926080"/>
            <a:ext cx="2743200" cy="146304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6318504" y="30358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888"/>
                </a:solidFill>
              </a:rPr>
              <a:t>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18504" y="327355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18504" y="379476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operation using ping tests across all departments.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216152" cy="20116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TOPOLOGY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Topology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Components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2926080" cy="384048"/>
          </a:xfrm>
          <a:prstGeom prst="rect">
            <a:avLst/>
          </a:prstGeom>
          <a:solidFill>
            <a:srgbClr val="F7F7F7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94360" y="17190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7556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39696"/>
            <a:ext cx="29260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2311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15184"/>
            <a:ext cx="2926080" cy="384048"/>
          </a:xfrm>
          <a:prstGeom prst="rect">
            <a:avLst/>
          </a:prstGeom>
          <a:solidFill>
            <a:srgbClr val="F7F7F7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94360" y="26700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7066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(1 per dept.)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090672"/>
            <a:ext cx="29260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594360" y="314553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1821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(Admin)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566160"/>
            <a:ext cx="2926080" cy="384048"/>
          </a:xfrm>
          <a:prstGeom prst="rect">
            <a:avLst/>
          </a:prstGeom>
          <a:solidFill>
            <a:srgbClr val="F7F7F7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594360" y="36210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65760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connection</a:t>
            </a:r>
            <a:endParaRPr lang="en-US" sz="11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188720"/>
            <a:ext cx="4937760" cy="37490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417320" cy="20116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ADDRESSING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 Addressing &amp; Subnets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occupies a /24 subnet  →  2³² ⁻ ²⁴ − 2 = 254 usable host addresses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813816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94360" y="165506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165506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Address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51960" y="165506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0" y="165506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Mask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60920" y="165506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947672"/>
            <a:ext cx="8138160" cy="512064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94360" y="2093976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093976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192.168.10.0/24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51960" y="2093976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2093976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255.255.255.0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60920" y="20939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Server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459736"/>
            <a:ext cx="81381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594360" y="260604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260604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192.168.20.0/24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51960" y="260604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2606040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255.255.255.0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60920" y="2606040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971800"/>
            <a:ext cx="8138160" cy="512064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594360" y="3118104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3118104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192.168.30.0/24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51960" y="3118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192.168.30.1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311810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255.255.255.0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60920" y="311810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483864"/>
            <a:ext cx="81381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594360" y="363016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377440" y="3630168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192.168.40.0/24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51960" y="3630168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192.168.40.1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52160" y="36301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255.255.255.0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60920" y="363016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995928"/>
            <a:ext cx="8138160" cy="512064"/>
          </a:xfrm>
          <a:prstGeom prst="rect">
            <a:avLst/>
          </a:prstGeom>
          <a:solidFill>
            <a:srgbClr val="F7F7F7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594360" y="4142232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377440" y="4142232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192.168.10.100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51960" y="414223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52160" y="414223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255.255.255.0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60920" y="414223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517904" cy="20116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CONNECTIONS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Device Connection 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router interface connects to a dedicated switch serving its department subnet.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8138160" cy="3063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719072" cy="20116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CONFIGURATION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 Static Configuration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VPCS device is assigned a static address in the format:  ip &lt;address&gt; &lt;mask&gt; &lt;gateway&gt;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8138160" cy="38404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85800" y="1865376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192.168.10.10  255.255.255.0  192.168.10.1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70048"/>
            <a:ext cx="8138160" cy="38404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85800" y="267004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192.168.20.10  255.255.255.0  192.168.20.1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1821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474720"/>
            <a:ext cx="8138160" cy="38404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85800" y="347472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192.168.30.10  255.255.255.0  192.168.30.1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9867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279392"/>
            <a:ext cx="8138160" cy="384048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85800" y="427939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192.168.40.10  255.255.255.0  192.168.40.1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4754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is saved with the  save  command in VPCS.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216152" cy="20116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SECURITY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&amp; Security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Routing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subnets connect through a single router.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subnet uses its local router interface as the default gateway.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forwarding is enabled for inter-network routing.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on eth4 provides outbound Internet access.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0" y="1261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Security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blocked from reaching the Admin network.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and Lab remain reachable where allowed.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implemented using iptables FORWARD chain filtering.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61872"/>
            <a:ext cx="0" cy="1371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502920" y="3154680"/>
            <a:ext cx="8138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Firewall Output  —  iptables -L FORWARD</a:t>
            </a:r>
            <a:endParaRPr lang="en-US" sz="9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65" y="3465575"/>
            <a:ext cx="5777238" cy="12361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5464B-D33F-89CF-1A35-E8ABE816A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172AC7-FF4E-A7DD-F7E5-BE83CCD14151}"/>
              </a:ext>
            </a:extLst>
          </p:cNvPr>
          <p:cNvSpPr/>
          <p:nvPr/>
        </p:nvSpPr>
        <p:spPr>
          <a:xfrm>
            <a:off x="502920" y="292608"/>
            <a:ext cx="1216152" cy="20116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SECURITY</a:t>
            </a:r>
            <a:endParaRPr lang="en-US" sz="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4135F1-63CD-59A5-B2D4-47140A7D6F7A}"/>
              </a:ext>
            </a:extLst>
          </p:cNvPr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&amp; Security Design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CB87155-67A4-7E40-F378-4F9AF13A1DF4}"/>
              </a:ext>
            </a:extLst>
          </p:cNvPr>
          <p:cNvSpPr/>
          <p:nvPr/>
        </p:nvSpPr>
        <p:spPr>
          <a:xfrm>
            <a:off x="502920" y="1143000"/>
            <a:ext cx="8138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1141B46-4F76-86CE-1729-D559F92CCF38}"/>
              </a:ext>
            </a:extLst>
          </p:cNvPr>
          <p:cNvSpPr/>
          <p:nvPr/>
        </p:nvSpPr>
        <p:spPr>
          <a:xfrm>
            <a:off x="502920" y="3154680"/>
            <a:ext cx="8138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D601111-1EFB-C278-8855-A75E2FCC462E}"/>
              </a:ext>
            </a:extLst>
          </p:cNvPr>
          <p:cNvSpPr/>
          <p:nvPr/>
        </p:nvSpPr>
        <p:spPr>
          <a:xfrm>
            <a:off x="587226" y="13075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Configuration  —  iptables -t nat -L</a:t>
            </a:r>
            <a:endParaRPr lang="en-US" sz="95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2C91BB3D-FF3A-605B-1D78-F92ADF0F5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154" y="1536192"/>
            <a:ext cx="4274982" cy="1618488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992B25B6-9854-3F58-6E8A-84B92E76B733}"/>
              </a:ext>
            </a:extLst>
          </p:cNvPr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8 / 12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96355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216152" cy="20116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SERVICES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Server Services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Server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IP: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192.168.10.100
</a:t>
            </a:r>
            <a:r>
              <a:rPr lang="en-US" sz="10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switch
</a:t>
            </a:r>
            <a:r>
              <a:rPr lang="en-US" sz="10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internal service platform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261871"/>
            <a:ext cx="5349240" cy="1670497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337560" y="124624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Web Server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4121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internal school web page on HTTP.</a:t>
            </a:r>
            <a:endParaRPr lang="en-US" sz="9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181" y="1605515"/>
            <a:ext cx="3080607" cy="12854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241548" y="2988661"/>
            <a:ext cx="5349240" cy="1115568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3383280" y="308324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File Share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37560" y="33695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folder accessible over the internal network.</a:t>
            </a:r>
            <a:endParaRPr lang="en-US" sz="9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3304275"/>
            <a:ext cx="2422058" cy="706941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241548" y="4160520"/>
            <a:ext cx="5349240" cy="640080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2"/>
          <p:cNvSpPr/>
          <p:nvPr/>
        </p:nvSpPr>
        <p:spPr>
          <a:xfrm>
            <a:off x="3337560" y="41742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dnsmasq  (DHCP)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37560" y="4486559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IP addresses dynamically within subnets.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618488" cy="20116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VERIFICATION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Router Verification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1.  Interface Addressing  —  ip addr show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36192"/>
            <a:ext cx="3840480" cy="2331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26280" y="126187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2.  Firewall FORWARD Chain  —  iptables -L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536192"/>
            <a:ext cx="4114800" cy="6583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26280" y="233172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3.  NAT POSTROUTING  —  iptables -t nat -L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606040"/>
            <a:ext cx="4114800" cy="126187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02920" y="3977640"/>
            <a:ext cx="8138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7"/>
          <p:cNvSpPr/>
          <p:nvPr/>
        </p:nvSpPr>
        <p:spPr>
          <a:xfrm>
            <a:off x="50292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interfaces configured correctly.   DROP rule from Students→Admin confirmed.   MASQUERADE on eth4 for Internet access.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" cy="20116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TESTING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Verification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138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02920" y="1726141"/>
            <a:ext cx="8138160" cy="1097280"/>
          </a:xfrm>
          <a:prstGeom prst="rect">
            <a:avLst/>
          </a:prstGeom>
          <a:solidFill>
            <a:srgbClr val="F7F7F7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617220" y="1755648"/>
            <a:ext cx="841248" cy="274320"/>
          </a:xfrm>
          <a:prstGeom prst="rect">
            <a:avLst/>
          </a:prstGeom>
          <a:solidFill>
            <a:srgbClr val="E8F5EC"/>
          </a:solidFill>
          <a:ln w="7620">
            <a:solidFill>
              <a:srgbClr val="1A6B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621792" y="1741186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6B2E"/>
                </a:solidFill>
              </a:rPr>
              <a:t>PASS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72768" y="174118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Server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191868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192.168.10.10 pings 192.168.10.100 successfully.</a:t>
            </a:r>
            <a:endParaRPr lang="en-US" sz="9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834508"/>
            <a:ext cx="4389120" cy="914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3337560"/>
            <a:ext cx="813816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9"/>
          <p:cNvSpPr/>
          <p:nvPr/>
        </p:nvSpPr>
        <p:spPr>
          <a:xfrm>
            <a:off x="640080" y="3385436"/>
            <a:ext cx="841248" cy="274320"/>
          </a:xfrm>
          <a:prstGeom prst="rect">
            <a:avLst/>
          </a:prstGeom>
          <a:solidFill>
            <a:srgbClr val="FDECEA"/>
          </a:solidFill>
          <a:ln w="762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640080" y="3385436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0000"/>
                </a:solidFill>
              </a:rPr>
              <a:t>BLOCKED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572768" y="33854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→ Admin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352259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DROP rule blocks all packets — timeout shown.</a:t>
            </a:r>
            <a:endParaRPr lang="en-US" sz="9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2534" y="3443802"/>
            <a:ext cx="4295666" cy="93967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04672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C884C-228D-A1DE-09D1-23C28D20E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B57774-A448-74EA-DC1C-B5775905CAB2}"/>
              </a:ext>
            </a:extLst>
          </p:cNvPr>
          <p:cNvSpPr/>
          <p:nvPr/>
        </p:nvSpPr>
        <p:spPr>
          <a:xfrm>
            <a:off x="502920" y="292608"/>
            <a:ext cx="1115568" cy="20116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TESTING</a:t>
            </a:r>
            <a:endParaRPr lang="en-US" sz="7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6B2776-E941-6FE6-35FC-CB50DC371818}"/>
              </a:ext>
            </a:extLst>
          </p:cNvPr>
          <p:cNvSpPr/>
          <p:nvPr/>
        </p:nvSpPr>
        <p:spPr>
          <a:xfrm>
            <a:off x="50292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Verification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821AB04-1826-7C78-55F5-8A4B5EDCE150}"/>
              </a:ext>
            </a:extLst>
          </p:cNvPr>
          <p:cNvSpPr/>
          <p:nvPr/>
        </p:nvSpPr>
        <p:spPr>
          <a:xfrm>
            <a:off x="502920" y="1143000"/>
            <a:ext cx="81381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BC864EE4-C7F8-5C41-7723-AC9C2D3DE2B1}"/>
              </a:ext>
            </a:extLst>
          </p:cNvPr>
          <p:cNvSpPr/>
          <p:nvPr/>
        </p:nvSpPr>
        <p:spPr>
          <a:xfrm>
            <a:off x="502920" y="1577339"/>
            <a:ext cx="8138160" cy="1097280"/>
          </a:xfrm>
          <a:prstGeom prst="rect">
            <a:avLst/>
          </a:prstGeom>
          <a:solidFill>
            <a:srgbClr val="F7F7F7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FFEED85-75E4-6E32-FDDF-BD495FA9C414}"/>
              </a:ext>
            </a:extLst>
          </p:cNvPr>
          <p:cNvSpPr/>
          <p:nvPr/>
        </p:nvSpPr>
        <p:spPr>
          <a:xfrm>
            <a:off x="621792" y="1668779"/>
            <a:ext cx="841248" cy="274320"/>
          </a:xfrm>
          <a:prstGeom prst="rect">
            <a:avLst/>
          </a:prstGeom>
          <a:solidFill>
            <a:srgbClr val="E8F5EC"/>
          </a:solidFill>
          <a:ln w="7620">
            <a:solidFill>
              <a:srgbClr val="1A6B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A215D217-0861-AE33-874C-672BA017C4C1}"/>
              </a:ext>
            </a:extLst>
          </p:cNvPr>
          <p:cNvSpPr/>
          <p:nvPr/>
        </p:nvSpPr>
        <p:spPr>
          <a:xfrm>
            <a:off x="621792" y="1668779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6B2E"/>
                </a:solidFill>
              </a:rPr>
              <a:t>PASS</a:t>
            </a:r>
            <a:endParaRPr lang="en-US" sz="8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43EF9C3D-A16D-8BFA-EE1D-CCDF3815991B}"/>
              </a:ext>
            </a:extLst>
          </p:cNvPr>
          <p:cNvSpPr/>
          <p:nvPr/>
        </p:nvSpPr>
        <p:spPr>
          <a:xfrm>
            <a:off x="1572768" y="1668779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→ Teachers</a:t>
            </a:r>
            <a:endParaRPr lang="en-US" sz="115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D65C53EB-9453-8F2C-E7A4-3C2AEADCFDEA}"/>
              </a:ext>
            </a:extLst>
          </p:cNvPr>
          <p:cNvSpPr/>
          <p:nvPr/>
        </p:nvSpPr>
        <p:spPr>
          <a:xfrm>
            <a:off x="1572768" y="1979675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reach permitted subnets — selective filter.</a:t>
            </a:r>
            <a:endParaRPr lang="en-US" sz="950" dirty="0"/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65F111D1-633B-1B13-A45C-7D75002FD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122" y="1755662"/>
            <a:ext cx="4103967" cy="777240"/>
          </a:xfrm>
          <a:prstGeom prst="rect">
            <a:avLst/>
          </a:prstGeom>
        </p:spPr>
      </p:pic>
      <p:sp>
        <p:nvSpPr>
          <p:cNvPr id="23" name="Shape 18">
            <a:extLst>
              <a:ext uri="{FF2B5EF4-FFF2-40B4-BE49-F238E27FC236}">
                <a16:creationId xmlns:a16="http://schemas.microsoft.com/office/drawing/2014/main" id="{09C03A25-B159-9DBC-36CC-03C581133FAC}"/>
              </a:ext>
            </a:extLst>
          </p:cNvPr>
          <p:cNvSpPr/>
          <p:nvPr/>
        </p:nvSpPr>
        <p:spPr>
          <a:xfrm>
            <a:off x="502920" y="2807206"/>
            <a:ext cx="8138160" cy="2095533"/>
          </a:xfrm>
          <a:prstGeom prst="rect">
            <a:avLst/>
          </a:prstGeom>
          <a:solidFill>
            <a:srgbClr val="F7F7F7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0CC185DB-AC5C-6B73-91C8-C075EC77FF75}"/>
              </a:ext>
            </a:extLst>
          </p:cNvPr>
          <p:cNvSpPr/>
          <p:nvPr/>
        </p:nvSpPr>
        <p:spPr>
          <a:xfrm>
            <a:off x="621792" y="2857499"/>
            <a:ext cx="841248" cy="274320"/>
          </a:xfrm>
          <a:prstGeom prst="rect">
            <a:avLst/>
          </a:prstGeom>
          <a:solidFill>
            <a:srgbClr val="E8F5EC"/>
          </a:solidFill>
          <a:ln w="7620">
            <a:solidFill>
              <a:srgbClr val="1A6B2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6347FD6C-4999-A5B2-79AA-D2F1D5D11D43}"/>
              </a:ext>
            </a:extLst>
          </p:cNvPr>
          <p:cNvSpPr/>
          <p:nvPr/>
        </p:nvSpPr>
        <p:spPr>
          <a:xfrm>
            <a:off x="621792" y="2857499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6B2E"/>
                </a:solidFill>
              </a:rPr>
              <a:t>PASS</a:t>
            </a:r>
            <a:endParaRPr lang="en-US" sz="8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40DA93A1-FD3E-C120-637D-D1E55C3C35FE}"/>
              </a:ext>
            </a:extLst>
          </p:cNvPr>
          <p:cNvSpPr/>
          <p:nvPr/>
        </p:nvSpPr>
        <p:spPr>
          <a:xfrm>
            <a:off x="1572768" y="2857499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&amp; Samba</a:t>
            </a:r>
            <a:endParaRPr lang="en-US" sz="115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E1F58448-AED5-8910-64D6-3286C3BF1FEE}"/>
              </a:ext>
            </a:extLst>
          </p:cNvPr>
          <p:cNvSpPr/>
          <p:nvPr/>
        </p:nvSpPr>
        <p:spPr>
          <a:xfrm>
            <a:off x="621792" y="3101274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page served. Samba readme.txt visible.</a:t>
            </a:r>
            <a:endParaRPr lang="en-US" sz="950" dirty="0"/>
          </a:p>
        </p:txBody>
      </p:sp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11E54D23-BC0C-CA5A-AEB5-EDBE7E93A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1102" y="3523115"/>
            <a:ext cx="4314279" cy="1322118"/>
          </a:xfrm>
          <a:prstGeom prst="rect">
            <a:avLst/>
          </a:prstGeom>
        </p:spPr>
      </p:pic>
      <p:pic>
        <p:nvPicPr>
          <p:cNvPr id="29" name="Image 4" descr="preencoded.png">
            <a:extLst>
              <a:ext uri="{FF2B5EF4-FFF2-40B4-BE49-F238E27FC236}">
                <a16:creationId xmlns:a16="http://schemas.microsoft.com/office/drawing/2014/main" id="{6CA2097B-9788-0E13-0ED8-31BAA62E4B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1417" y="3108957"/>
            <a:ext cx="1739630" cy="1322119"/>
          </a:xfrm>
          <a:prstGeom prst="rect">
            <a:avLst/>
          </a:prstGeom>
        </p:spPr>
      </p:pic>
      <p:sp>
        <p:nvSpPr>
          <p:cNvPr id="30" name="Text 23">
            <a:extLst>
              <a:ext uri="{FF2B5EF4-FFF2-40B4-BE49-F238E27FC236}">
                <a16:creationId xmlns:a16="http://schemas.microsoft.com/office/drawing/2014/main" id="{F7FDA6CE-A078-BD53-9C0C-E7D59D07D850}"/>
              </a:ext>
            </a:extLst>
          </p:cNvPr>
          <p:cNvSpPr/>
          <p:nvPr/>
        </p:nvSpPr>
        <p:spPr>
          <a:xfrm>
            <a:off x="8046720" y="2747771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</a:rPr>
              <a:t>11 / 12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68207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00400" cy="0"/>
          </a:xfrm>
          <a:prstGeom prst="line">
            <a:avLst/>
          </a:prstGeom>
          <a:noFill/>
          <a:ln w="12700">
            <a:solidFill>
              <a:srgbClr val="4444A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 secure, organized school network was designed and fully simulated in GNS3.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73352"/>
            <a:ext cx="5486400" cy="0"/>
          </a:xfrm>
          <a:prstGeom prst="line">
            <a:avLst/>
          </a:prstGeom>
          <a:noFill/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02920" y="1810512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Departments were isolated into four /24 subnets, each with its own gateway.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86584"/>
            <a:ext cx="5486400" cy="0"/>
          </a:xfrm>
          <a:prstGeom prst="line">
            <a:avLst/>
          </a:prstGeom>
          <a:noFill/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502920" y="2523744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Internal services — DHCP, Web Server, and File Sharing — were successfully deployed.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099816"/>
            <a:ext cx="5486400" cy="0"/>
          </a:xfrm>
          <a:prstGeom prst="line">
            <a:avLst/>
          </a:prstGeom>
          <a:noFill/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02920" y="3236976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Firewall rules protected the Admin network while keeping permitted communication available.</a:t>
            </a:r>
            <a:endParaRPr lang="en-US" sz="12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914400"/>
            <a:ext cx="3063240" cy="34747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0" y="4663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88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719</Words>
  <Application>Microsoft Office PowerPoint</Application>
  <PresentationFormat>On-screen Show (16:9)</PresentationFormat>
  <Paragraphs>181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Local School Network System</dc:title>
  <dc:subject>PptxGenJS Presentation</dc:subject>
  <dc:creator>PptxGenJS</dc:creator>
  <cp:lastModifiedBy>Omar salous</cp:lastModifiedBy>
  <cp:revision>3</cp:revision>
  <dcterms:created xsi:type="dcterms:W3CDTF">2026-04-18T08:52:18Z</dcterms:created>
  <dcterms:modified xsi:type="dcterms:W3CDTF">2026-04-18T09:00:57Z</dcterms:modified>
</cp:coreProperties>
</file>